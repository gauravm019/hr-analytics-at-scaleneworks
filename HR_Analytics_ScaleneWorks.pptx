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74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rgav-9105/ScaleneWorks-HR-Analytics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ASSIGNMENT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 at ScaleneWorks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Candidate Joining Outcomes (Renege Prediction)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start-to-end workflow: data exploration, cleaning, EDA, preprocessing, and classification model building.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25400">
            <a:solidFill>
              <a:srgbClr val="7C93D6"/>
            </a:solidFill>
            <a:prstDash val="solid"/>
          </a:ln>
        </p:spPr>
      </p:sp>
      <p:sp>
        <p:nvSpPr>
          <p:cNvPr id="9" name="Text 7">
            <a:hlinkClick r:id="rId3"/>
          </p:cNvPr>
          <p:cNvSpPr/>
          <p:nvPr/>
        </p:nvSpPr>
        <p:spPr>
          <a:xfrm>
            <a:off x="822960" y="4754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12,333 candidate records  •  16 predictive variables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Joined vs. Not Joined (renege)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Link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reference: IMB551, Indian Institute of Management Bangalore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Renege Matters to ScaleneWorks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ScaleneWorks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Bangalore-based talent acquisition consultancy. Even after a candidate accepts a job offer, a significant share never actually joins — this is called </a:t>
            </a: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“renege.”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client rolling out 12,000 offers a year, a 30% renege rate means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~3,600 lost hires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roughly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54,000 wasted man-hours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recruitment effort.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1828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223760" y="2468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renege rate in IT services hiring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0" y="329184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3429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2376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hiring cost due to reneged offers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to answer: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237744" cy="23774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27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key factors drive a candidate to join or not join?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237744" cy="23774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114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09320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rules can predict renege in advance?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13832"/>
            <a:ext cx="237744" cy="23774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4955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47725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an algorithm to score join-probability?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DATA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the Dataset: 12,333 Rows, 17 Columns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INGESTION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standard Python data-science libraries: pandas for dataframes, numpy for numeric operations, and matplotlib/seaborn for visuals.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Shape: 12,333 rows x 17 columns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363016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types: 4 float64, 4 int64, 9 categorical columns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0142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Target: Status (Joined / Not Joined)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3982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Identifier: Candidate Ref — dropped, no predictive value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2057400"/>
            <a:ext cx="4709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Required Libraries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Dataset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pd.read_excel("Assignment.xlsx")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Dataset Shape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(12333, 17)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Column Names &amp; Data Types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print(df.columns)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DATA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 &amp; Duplicates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to accept offer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80560" y="20116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2,719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difference CTC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80560" y="23957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 hike expected in CTC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16382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 hike offered in CTC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Numerical columns → filled with column mean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45312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Categorical columns → filled with column 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3717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Verified 0 missing values and 0 duplicate rows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22122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Dropped Candidate Ref → 17 → 16 columns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2057400"/>
            <a:ext cx="4709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Missing Values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Impute Numerical Columns with Mean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df.fillna(df.mean(numeric_only=True),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inplace=True)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Impute Categorical Columns with Mode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df.fillna(df.mode().iloc[0], inplace=True)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print(df.isnull().sum().sum())   # 0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print(df.duplicated().sum())     # 0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Identifier Column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df.drop("Candidate Ref", axis=1,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inplace=True)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Class Balance &amp; Gender Split</a:t>
            </a:r>
            <a:endParaRPr lang="en-US" sz="3000" dirty="0"/>
          </a:p>
        </p:txBody>
      </p:sp>
      <p:pic>
        <p:nvPicPr>
          <p:cNvPr id="4" name="Image 0" descr="charts/status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023360" cy="3200400"/>
          </a:xfrm>
          <a:prstGeom prst="rect">
            <a:avLst/>
          </a:prstGeom>
        </p:spPr>
      </p:pic>
      <p:pic>
        <p:nvPicPr>
          <p:cNvPr id="5" name="Image 1" descr="charts/gender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554480"/>
            <a:ext cx="402336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823960" y="155448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900684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006840" y="20116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8,725 (70.7%)
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Joined: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3,608 (29.3%)
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10,047 (81.5%)
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2,286 (18.5%)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49377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" y="5349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 imbalance (~71/29):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must be judged on precision/recall for the minority class, not accuracy alone.
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Gender skew (~81.5% male):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pipelines lean heavily male — worth an equity review.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Channels &amp; Joining-Date Extensions</a:t>
            </a:r>
            <a:endParaRPr lang="en-US" sz="3000" dirty="0"/>
          </a:p>
        </p:txBody>
      </p:sp>
      <p:pic>
        <p:nvPicPr>
          <p:cNvPr id="4" name="Image 0" descr="charts/candidate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023360" cy="3200400"/>
          </a:xfrm>
          <a:prstGeom prst="rect">
            <a:avLst/>
          </a:prstGeom>
        </p:spPr>
      </p:pic>
      <p:pic>
        <p:nvPicPr>
          <p:cNvPr id="5" name="Image 1" descr="charts/doj_exte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554480"/>
            <a:ext cx="402336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823960" y="155448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900684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006840" y="20116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7,075 (57.4%)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3,170 (25.7%)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2,088 (16.9%)
DOJ Extended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7,259 (58.9%)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5,074 (41.1%)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49377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" y="5349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 hiring dominates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(57.4%) — agency and referral are secondary pipelines.
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41% requested a DOJ extension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possibly a signal of friction, counter-offers, or long notice periods elsewhere.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Period &amp; Age Distribution</a:t>
            </a:r>
            <a:endParaRPr lang="en-US" sz="3000" dirty="0"/>
          </a:p>
        </p:txBody>
      </p:sp>
      <p:pic>
        <p:nvPicPr>
          <p:cNvPr id="4" name="Image 0" descr="charts/notice_peri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4023360" cy="3200400"/>
          </a:xfrm>
          <a:prstGeom prst="rect">
            <a:avLst/>
          </a:prstGeom>
        </p:spPr>
      </p:pic>
      <p:pic>
        <p:nvPicPr>
          <p:cNvPr id="5" name="Image 1" descr="charts/age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554480"/>
            <a:ext cx="402336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823960" y="155448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F4F6FC"/>
          </a:solidFill>
          <a:ln/>
        </p:spPr>
      </p:sp>
      <p:sp>
        <p:nvSpPr>
          <p:cNvPr id="7" name="Text 3"/>
          <p:cNvSpPr/>
          <p:nvPr/>
        </p:nvSpPr>
        <p:spPr>
          <a:xfrm>
            <a:off x="900684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006840" y="201168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notice period: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(6,285 candidates)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– 64 years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50%: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– 34 years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493776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" y="5349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Notice periods cluster at standard values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30, 45, 60, 90, 120 days) — 30 days is by far the norm.
</a:t>
            </a: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 distribution skews toward early-career, 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peaking around 28–34 years, with a long tail beyond 45.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— Including the Target</a:t>
            </a:r>
            <a:endParaRPr lang="en-US" sz="3000" dirty="0"/>
          </a:p>
        </p:txBody>
      </p:sp>
      <p:pic>
        <p:nvPicPr>
          <p:cNvPr id="4" name="Image 0" descr="charts/corr_heatmap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94944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691640"/>
            <a:ext cx="416052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heatmap
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hike expected vs. offered: r = 0.64
Offered hike vs. % difference CTC: r = 0.59
Offered band vs. REX (years): r = 0.75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Status (target)
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period: r = 0.24 (highest)
Candidate relocate actual: r = –0.25
DOJ Extended: r = –0.15
</a:t>
            </a: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is strongly linearly related to Status — the largest is only ~0.25 — which is why a non-linear, multi-feature model (tree/ensemble) is needed rather than a simple correlation rule.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 Train/Test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572768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9 categorical columns (DOJ Extended, Offered band, Joining Bonus, Candidate relocate actual, Gender, Candidate Source, LOB, Location, Status)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23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50008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0 = Joined, 1 = Not Joined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127248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X (15 features) and y (Status)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9592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77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904488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80% train / 20% test, random_state=42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54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681728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9,866 training rows, 2,467 test rows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60020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057400"/>
            <a:ext cx="4709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\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LabelEncoder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\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train_test_split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categorical_columns = [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"DOJ Extended", "Offered band",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"Joining Bonus", "Candidate relocate actual",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"Gender", "Candidate Source", "LOB",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"Location", "Status"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categorical_columns: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le.fit_transform(df[col])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df.drop("Status", axis=1)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df["Status"]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\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train_test_split(X, y,</a:t>
            </a:r>
            <a:endParaRPr lang="en-US" sz="10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test_size=0.20, random_state=42)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MODEL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&amp; 2: Logistic Regression, Decision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LOGISTIC REGRESSION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 estimating join log-odds. Trained with max_iter=1000.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74.83%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[[1597, 143], [478, 249]]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(Not Joined):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 — misses most non-joiners
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3886200"/>
            <a:ext cx="4937760" cy="2331720"/>
          </a:xfrm>
          <a:prstGeom prst="roundRect">
            <a:avLst>
              <a:gd name="adj" fmla="val 2353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4389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\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LogisticRegression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LogisticRegression(max_iter=1000)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 y_train)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y_pred_lr = lr.predict(X_test)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DECISION TREE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tree that learns multi-feature logical splits (Gini impurity).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78.03% (+3.2 pts vs LR)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[[1466, 274], [268, 459]]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(Not Joined):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 — much more balanced
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3886200"/>
            <a:ext cx="4937760" cy="2331720"/>
          </a:xfrm>
          <a:prstGeom prst="roundRect">
            <a:avLst>
              <a:gd name="adj" fmla="val 2353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9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12280" y="4343400"/>
            <a:ext cx="4389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\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DecisionTreeClassifier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DecisionTreeClassifier(random_state=42)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dt.fit(X_train, y_train)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y_pred_dt = dt.predict(X_test)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MODEL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Wins — 83.66% Accuracy</a:t>
            </a:r>
            <a:endParaRPr lang="en-US" sz="3000" dirty="0"/>
          </a:p>
        </p:txBody>
      </p:sp>
      <p:pic>
        <p:nvPicPr>
          <p:cNvPr id="4" name="Image 0" descr="char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394960" cy="42976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9496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(Not Joined)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309360" y="1737360"/>
            <a:ext cx="5394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686800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149840" y="1737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(Not Joined)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09360" y="37947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4F6FC"/>
          </a:solidFill>
          <a:ln/>
        </p:spPr>
      </p:sp>
      <p:sp>
        <p:nvSpPr>
          <p:cNvPr id="11" name="Text 7"/>
          <p:cNvSpPr/>
          <p:nvPr/>
        </p:nvSpPr>
        <p:spPr>
          <a:xfrm>
            <a:off x="6537960" y="3977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WHY IT WINS</a:t>
            </a:r>
            <a:endParaRPr lang="en-US" sz="1250" dirty="0"/>
          </a:p>
        </p:txBody>
      </p:sp>
      <p:sp>
        <p:nvSpPr>
          <p:cNvPr id="5" name="Text 8"/>
          <p:cNvSpPr/>
          <p:nvPr/>
        </p:nvSpPr>
        <p:spPr>
          <a:xfrm>
            <a:off x="6537960" y="43434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[[1656, 84], [319, 408]]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class: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0.84, Recall 0.95, F1 0.89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Joined class: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0.83, Recall 0.56, F1 0.67
</a:t>
            </a: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bagging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many trees reduces variance and overfitting risk vs. a single tree.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2730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&amp;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7607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</p:spPr>
      </p:sp>
      <p:pic>
        <p:nvPicPr>
          <p:cNvPr id="6" name="Image 0" descr="char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548640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50876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252C6E"/>
          </a:solidFill>
          <a:ln/>
        </p:spPr>
      </p:sp>
      <p:sp>
        <p:nvSpPr>
          <p:cNvPr id="8" name="Text 5"/>
          <p:cNvSpPr/>
          <p:nvPr/>
        </p:nvSpPr>
        <p:spPr>
          <a:xfrm>
            <a:off x="6720840" y="16184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20840" y="192938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to accept offer (19.2%) — slow acceptance strongly signals a lower chance of joining.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92240" y="2807208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252C6E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9169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matters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20840" y="322783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hike expected, offered, and CTC difference together drive over 32% of importance.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92240" y="4105656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252C6E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4215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20840" y="45262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(83.7% accuracy) in ScaleneWorks' post-offer follow-up workflow.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5404104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252C6E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5513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20840" y="58247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0.56 recall on renege cases with class-weighting or SMOTE; test XGBoost.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at ScaleneWorks  |  Predicting Candidate Joining Outcomes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1674</Words>
  <Application>Microsoft Office PowerPoint</Application>
  <PresentationFormat>Widescreen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Bhargav Mavani</cp:lastModifiedBy>
  <cp:revision>2</cp:revision>
  <dcterms:created xsi:type="dcterms:W3CDTF">2026-08-13T04:26:05Z</dcterms:created>
  <dcterms:modified xsi:type="dcterms:W3CDTF">2026-08-19T15:59:13Z</dcterms:modified>
</cp:coreProperties>
</file>